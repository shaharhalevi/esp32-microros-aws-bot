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60" r:id="rId3"/>
    <p:sldId id="261" r:id="rId4"/>
    <p:sldId id="271" r:id="rId5"/>
    <p:sldId id="258" r:id="rId6"/>
    <p:sldId id="262" r:id="rId7"/>
    <p:sldId id="267" r:id="rId8"/>
    <p:sldId id="263" r:id="rId9"/>
    <p:sldId id="264" r:id="rId10"/>
    <p:sldId id="270" r:id="rId11"/>
    <p:sldId id="268" r:id="rId12"/>
    <p:sldId id="265" r:id="rId13"/>
    <p:sldId id="269" r:id="rId14"/>
    <p:sldId id="272" r:id="rId15"/>
    <p:sldId id="266" r:id="rId16"/>
    <p:sldId id="25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" initials="a" lastIdx="1" clrIdx="0">
    <p:extLst>
      <p:ext uri="{19B8F6BF-5375-455C-9EA6-DF929625EA0E}">
        <p15:presenceInfo xmlns:p15="http://schemas.microsoft.com/office/powerpoint/2012/main" userId="bfa44cade0e80c5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5" d="100"/>
          <a:sy n="55" d="100"/>
        </p:scale>
        <p:origin x="78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29T10:59:09.739" idx="1">
    <p:pos x="7130" y="1187"/>
    <p:text>קוד לדיאגרמה אתר 
https://www.mermaidchart.com/
graph LR
    %% עיצוב וצבעים
    classDef edge fill:#e3f2fd,stroke:#1565c0,stroke-width:2px,color:black;
    classDef cloud fill:#fff3e0,stroke:#ef6c00,stroke-width:2px,color:black;
    classDef user fill:#e8f5e9,stroke:#2e7d32,stroke-width:2px,color:black;
    %% שכבת הקצה
    subgraph Edge ["Edge Layer (Warehouse)"]
        direction TB
        Robot["🤖 Robot (ESP32)&lt;br/&gt;(Action &amp; Sensors)"]:::edge
        Gateway["🖥️ Gateway (Processing)"]:::edge
    end
    %% שכבת הענן - AWS
    subgraph AWS ["Cloud Layer (AWS)"]
        direction TB
        IoTCore☁️ AWS IoT Core&lt;br/&gt;(MQTT Broker)"]:::cloud
        Lambda["⚡ AWS Lambda&lt;br/&gt;(Logic)"]:::cloud
        Dynamo["🗄️ DynamoDB&lt;br/&gt;(Current State)"]:::cloud
        Timestream["📈 Amazon Timestream&lt;br/&gt;(History)"]:::cloud
    end
    %% שכבת המשתמש
    subgraph User ["User Layer"]
        Grafana["📊 Grafana&lt;br/&gt;(Analytics)"]:::user
        App["📱 App / User&lt;br/&gt;(Control)"]:::user
    end
    %% זרימת מידע (Telemetry)
    Robot --&gt; Gateway
    Gateway -- "MQTT Data" --&gt; IoTCore
    IoTCore --&gt; Lambda
    Lambda --&gt; Dynamo
    Lambda --&gt; Timestream
    Timestream --&gt; Grafana
    Dynamo --&gt; App
    %% טריגר משתמש (User Command)
    App -. "1. User Trigger&lt;br/&gt;(Start Scan)" .-&gt; IoTCore
    IoTCore -. "2. Command&lt;br/&gt;(MQTT)" .-&gt; Robot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0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0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1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113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26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98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5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8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96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3534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14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52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59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65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1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166C558-E3FE-4689-8627-CBAB071F8157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5EB48E4-6FFB-4FB7-AC55-3B532D30C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69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0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Y8p60v4oPw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BFC186A-5A9F-4A9A-A72D-DFBBE99344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9">
            <a:extLst>
              <a:ext uri="{FF2B5EF4-FFF2-40B4-BE49-F238E27FC236}">
                <a16:creationId xmlns:a16="http://schemas.microsoft.com/office/drawing/2014/main" id="{E8EE1E2B-262B-4EE5-9AB3-125FAB1A8A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ln w="15875" cap="sq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626" y="966851"/>
            <a:ext cx="6889930" cy="4626864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5000"/>
              <a:t>Smart Warehouse IoT System using Autonomous Mobile Robot (AMR)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5" y="966851"/>
            <a:ext cx="2820362" cy="4626864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he-IL"/>
              <a:t>עדי שלמה ושחר הלוי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2CADB7-E9BE-4376-8036-0D21CBDC96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6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סקירת רקע ופתרונות קיימים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431" y="1868992"/>
            <a:ext cx="11043137" cy="4461469"/>
          </a:xfrm>
        </p:spPr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en-US" sz="2800" b="1" dirty="0"/>
              <a:t>Smart Shelves</a:t>
            </a:r>
            <a:r>
              <a:rPr lang="he-IL" sz="2800" b="1" dirty="0"/>
              <a:t>:</a:t>
            </a:r>
            <a:endParaRPr lang="he-IL" sz="2800" dirty="0"/>
          </a:p>
          <a:p>
            <a:pPr algn="r" rtl="1"/>
            <a:r>
              <a:rPr lang="he-IL" sz="1600" dirty="0"/>
              <a:t>ניטור רציף באמצעות רישות המדפים בחיישנים [1].</a:t>
            </a:r>
          </a:p>
          <a:p>
            <a:pPr algn="r" rtl="1"/>
            <a:r>
              <a:rPr lang="he-IL" sz="1600" b="1" dirty="0"/>
              <a:t>החיסרון: </a:t>
            </a:r>
            <a:r>
              <a:rPr lang="he-IL" sz="1600" dirty="0"/>
              <a:t>עלות תשתית וחיווט גבוהה לכל מדף בנפרד</a:t>
            </a:r>
          </a:p>
          <a:p>
            <a:pPr algn="r" rtl="1"/>
            <a:endParaRPr lang="he-IL" sz="1600" dirty="0"/>
          </a:p>
          <a:p>
            <a:pPr marL="0" indent="0" algn="r" rtl="1">
              <a:buNone/>
            </a:pPr>
            <a:r>
              <a:rPr lang="en-US" sz="2800" b="1" dirty="0"/>
              <a:t>RFID Tagging</a:t>
            </a:r>
            <a:r>
              <a:rPr lang="he-IL" sz="2800" b="1" dirty="0"/>
              <a:t>:</a:t>
            </a:r>
          </a:p>
          <a:p>
            <a:pPr algn="r" rtl="1"/>
            <a:r>
              <a:rPr lang="he-IL" sz="1600" dirty="0"/>
              <a:t>תיוג כל פריט במחסן בשבב אלקטרוני לטובת ניטור [2].</a:t>
            </a:r>
          </a:p>
          <a:p>
            <a:pPr algn="r" rtl="1"/>
            <a:r>
              <a:rPr lang="he-IL" sz="1600" b="1" dirty="0"/>
              <a:t>החיסרון: </a:t>
            </a:r>
            <a:r>
              <a:rPr lang="he-IL" sz="1600" dirty="0"/>
              <a:t>אינו משתלם כלכלית למוצרים זולים ודורש תפעול ידני שוטף של הדבקת תגים על כל סחורה חדשה.</a:t>
            </a:r>
          </a:p>
          <a:p>
            <a:pPr algn="r" rtl="1"/>
            <a:endParaRPr lang="he-IL" sz="1600" dirty="0"/>
          </a:p>
          <a:p>
            <a:pPr marL="0" indent="0" algn="r" rtl="1">
              <a:buNone/>
            </a:pPr>
            <a:r>
              <a:rPr lang="en-US" sz="2800" b="1" dirty="0"/>
              <a:t>Industrial Robotics (e.g., Amazon)</a:t>
            </a:r>
            <a:r>
              <a:rPr lang="he-IL" sz="2800" b="1" dirty="0"/>
              <a:t>:</a:t>
            </a:r>
          </a:p>
          <a:p>
            <a:pPr algn="r" rtl="1"/>
            <a:r>
              <a:rPr lang="he-IL" sz="1600" dirty="0"/>
              <a:t>שימוש ב-</a:t>
            </a:r>
            <a:r>
              <a:rPr lang="en-US" sz="1600" dirty="0"/>
              <a:t>AI </a:t>
            </a:r>
            <a:r>
              <a:rPr lang="he-IL" sz="1600" dirty="0"/>
              <a:t>ורובוטים מתוחכמים לניהול מסלולים [3].</a:t>
            </a:r>
          </a:p>
          <a:p>
            <a:pPr algn="r" rtl="1"/>
            <a:r>
              <a:rPr lang="he-IL" sz="1600" b="1" dirty="0"/>
              <a:t>החיסרון:</a:t>
            </a:r>
            <a:r>
              <a:rPr lang="he-IL" sz="1600" dirty="0"/>
              <a:t> חסם כניסה גבוה מאוד לעסקים קטנים</a:t>
            </a:r>
            <a:endParaRPr lang="he-IL" sz="1600" b="1" dirty="0"/>
          </a:p>
        </p:txBody>
      </p:sp>
    </p:spTree>
    <p:extLst>
      <p:ext uri="{BB962C8B-B14F-4D97-AF65-F5344CB8AC3E}">
        <p14:creationId xmlns:p14="http://schemas.microsoft.com/office/powerpoint/2010/main" val="255219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תמונה שמכילה גלגל, צמיג, חלק חילוף לרכב, רכב צעצוע&#10;&#10;תוכן בינה מלאכותית גנרטיבית עשוי להיות שגוי."/>
          <p:cNvPicPr>
            <a:picLocks noChangeAspect="1"/>
          </p:cNvPicPr>
          <p:nvPr/>
        </p:nvPicPr>
        <p:blipFill>
          <a:blip r:embed="rId3"/>
          <a:srcRect l="2747" r="14584" b="-2"/>
          <a:stretch>
            <a:fillRect/>
          </a:stretch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17" name="Picture 14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450" y="340536"/>
            <a:ext cx="4538124" cy="970450"/>
          </a:xfrm>
        </p:spPr>
        <p:txBody>
          <a:bodyPr anchor="b">
            <a:normAutofit/>
          </a:bodyPr>
          <a:lstStyle/>
          <a:p>
            <a:pPr algn="r"/>
            <a:r>
              <a:rPr lang="he-IL" sz="3600" dirty="0"/>
              <a:t>הפתרון שלנו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>
          <a:xfrm>
            <a:off x="6646023" y="1651520"/>
            <a:ext cx="5156978" cy="4456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he-IL" sz="1800" b="1" dirty="0"/>
              <a:t>מודל ה-</a:t>
            </a:r>
            <a:r>
              <a:rPr lang="en-US" sz="1800" b="1" dirty="0"/>
              <a:t>SMART Warehouse</a:t>
            </a:r>
            <a:r>
              <a:rPr lang="he-IL" sz="1800" b="1" dirty="0"/>
              <a:t>:</a:t>
            </a:r>
          </a:p>
          <a:p>
            <a:pPr algn="r" rtl="1"/>
            <a:r>
              <a:rPr lang="he-IL" sz="1800" b="1" dirty="0"/>
              <a:t>אימוץ מודל ה-</a:t>
            </a:r>
            <a:r>
              <a:rPr lang="en-US" sz="1800" b="1" dirty="0"/>
              <a:t>Smart Warehouse</a:t>
            </a:r>
            <a:r>
              <a:rPr lang="he-IL" sz="1800" b="1" dirty="0"/>
              <a:t> [4]</a:t>
            </a:r>
            <a:r>
              <a:rPr lang="en-US" sz="1800" b="1" dirty="0"/>
              <a:t> </a:t>
            </a:r>
            <a:r>
              <a:rPr lang="he-IL" sz="1800" b="1" dirty="0"/>
              <a:t>:</a:t>
            </a:r>
            <a:r>
              <a:rPr lang="en-US" sz="1800" b="1" dirty="0"/>
              <a:t> </a:t>
            </a:r>
            <a:r>
              <a:rPr lang="he-IL" sz="1800" dirty="0"/>
              <a:t>מעבר משיטה של טיפול בחוסרים בדיעבד לשיטה של מניעה מראש בעזרת </a:t>
            </a:r>
            <a:r>
              <a:rPr lang="en-US" sz="1800" dirty="0"/>
              <a:t>IoT</a:t>
            </a:r>
            <a:r>
              <a:rPr lang="he-IL" sz="1800" dirty="0"/>
              <a:t>.</a:t>
            </a:r>
          </a:p>
          <a:p>
            <a:pPr algn="r" rtl="1"/>
            <a:endParaRPr lang="he-IL" sz="1800" dirty="0"/>
          </a:p>
          <a:p>
            <a:pPr marL="0" indent="0" algn="r" rtl="1">
              <a:buNone/>
            </a:pPr>
            <a:r>
              <a:rPr lang="he-IL" sz="1800" b="1" dirty="0"/>
              <a:t>הפתרון בפרויקט:</a:t>
            </a:r>
          </a:p>
          <a:p>
            <a:pPr marL="0" indent="0" algn="r" rtl="1">
              <a:buNone/>
            </a:pPr>
            <a:r>
              <a:rPr lang="en-US" sz="1800" b="1" dirty="0"/>
              <a:t>Cost-Effective</a:t>
            </a:r>
            <a:r>
              <a:rPr lang="he-IL" sz="1800" b="1" dirty="0"/>
              <a:t>: </a:t>
            </a:r>
            <a:r>
              <a:rPr lang="he-IL" sz="1800" dirty="0"/>
              <a:t>במקום חיישנים יקרים שימוש בברקודים הקיימים (ללא שינוי במוצר).</a:t>
            </a:r>
          </a:p>
          <a:p>
            <a:pPr marL="0" indent="0" algn="r" rtl="1">
              <a:buNone/>
            </a:pPr>
            <a:r>
              <a:rPr lang="he-IL" sz="1800" b="1" dirty="0"/>
              <a:t>כיסוי מלא:</a:t>
            </a:r>
            <a:r>
              <a:rPr lang="he-IL" sz="1800" dirty="0"/>
              <a:t> רובוט נייד אחד שמכסה את כל המחסן וחוסך תשתיות.</a:t>
            </a:r>
          </a:p>
          <a:p>
            <a:pPr marL="0" indent="0" algn="r" rtl="1">
              <a:buNone/>
            </a:pPr>
            <a:r>
              <a:rPr lang="he-IL" sz="1800" b="1" dirty="0"/>
              <a:t>חומרה נגישה:</a:t>
            </a:r>
            <a:r>
              <a:rPr lang="he-IL" sz="1800" dirty="0"/>
              <a:t> שימוש בבקר </a:t>
            </a:r>
            <a:r>
              <a:rPr lang="en-US" sz="1800" dirty="0"/>
              <a:t> ESP32 </a:t>
            </a:r>
            <a:r>
              <a:rPr lang="he-IL" sz="1800" dirty="0"/>
              <a:t>זול ויעיל </a:t>
            </a:r>
            <a:r>
              <a:rPr lang="he-IL" sz="1800" dirty="0" err="1"/>
              <a:t>להנגשת</a:t>
            </a:r>
            <a:r>
              <a:rPr lang="he-IL" sz="1800" dirty="0"/>
              <a:t> הטכנולוגיה.</a:t>
            </a:r>
            <a:endParaRPr lang="he-IL" sz="1800" b="1" dirty="0"/>
          </a:p>
        </p:txBody>
      </p:sp>
    </p:spTree>
    <p:extLst>
      <p:ext uri="{BB962C8B-B14F-4D97-AF65-F5344CB8AC3E}">
        <p14:creationId xmlns:p14="http://schemas.microsoft.com/office/powerpoint/2010/main" val="109638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אתגרים </a:t>
            </a:r>
            <a:r>
              <a:rPr lang="he-IL" dirty="0" smtClean="0"/>
              <a:t>ופתרונות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400" b="1" dirty="0"/>
              <a:t>תקשורת זמן-אמת: </a:t>
            </a:r>
            <a:r>
              <a:rPr lang="he-IL" sz="2400" dirty="0"/>
              <a:t>שליטה ב-</a:t>
            </a:r>
            <a:r>
              <a:rPr lang="en-US" sz="2400" dirty="0" err="1"/>
              <a:t>WiFi</a:t>
            </a:r>
            <a:r>
              <a:rPr lang="en-US" sz="2400" dirty="0"/>
              <a:t> </a:t>
            </a:r>
            <a:r>
              <a:rPr lang="he-IL" sz="2400" dirty="0" smtClean="0"/>
              <a:t> יצרה השהיות-&gt;נפתר </a:t>
            </a:r>
            <a:r>
              <a:rPr lang="he-IL" sz="2400" dirty="0"/>
              <a:t>ע"י מעבר </a:t>
            </a:r>
            <a:r>
              <a:rPr lang="he-IL" sz="2400" dirty="0" smtClean="0"/>
              <a:t>ל</a:t>
            </a:r>
            <a:r>
              <a:rPr lang="en-US" sz="2400" dirty="0" smtClean="0"/>
              <a:t>Micro-ROS </a:t>
            </a:r>
            <a:r>
              <a:rPr lang="en-US" sz="2400" dirty="0"/>
              <a:t>over </a:t>
            </a:r>
            <a:r>
              <a:rPr lang="en-US" sz="2400" dirty="0" smtClean="0"/>
              <a:t>UDP</a:t>
            </a:r>
            <a:endParaRPr lang="he-IL" sz="2400" dirty="0" smtClean="0"/>
          </a:p>
          <a:p>
            <a:r>
              <a:rPr lang="he-IL" sz="2400" b="1" dirty="0"/>
              <a:t>עומס </a:t>
            </a:r>
            <a:r>
              <a:rPr lang="he-IL" sz="2400" b="1" dirty="0" smtClean="0"/>
              <a:t>עיבוד: </a:t>
            </a:r>
            <a:r>
              <a:rPr lang="he-IL" sz="2400" dirty="0" smtClean="0"/>
              <a:t>נפתר </a:t>
            </a:r>
            <a:r>
              <a:rPr lang="he-IL" sz="2400" dirty="0"/>
              <a:t>ע"י ביזור חומרה (בקר נפרד לתנועה ובקר נפרד למצלמה</a:t>
            </a:r>
            <a:r>
              <a:rPr lang="he-IL" sz="2400" dirty="0" smtClean="0"/>
              <a:t>).</a:t>
            </a:r>
          </a:p>
          <a:p>
            <a:r>
              <a:rPr lang="he-IL" sz="2400" dirty="0"/>
              <a:t>אמינות </a:t>
            </a:r>
            <a:r>
              <a:rPr lang="he-IL" sz="2400" dirty="0" smtClean="0"/>
              <a:t>וגיבוי: חשש </a:t>
            </a:r>
            <a:r>
              <a:rPr lang="he-IL" sz="2400" dirty="0"/>
              <a:t>מאובדן מידע בנתק </a:t>
            </a:r>
            <a:r>
              <a:rPr lang="he-IL" sz="2400" dirty="0" smtClean="0"/>
              <a:t>-&gt;</a:t>
            </a:r>
            <a:r>
              <a:rPr lang="en-US" sz="2400" dirty="0" smtClean="0"/>
              <a:t> </a:t>
            </a:r>
            <a:r>
              <a:rPr lang="he-IL" sz="2400" dirty="0"/>
              <a:t>נפתר ע"י מנגנון אגירה מקומי (</a:t>
            </a:r>
            <a:r>
              <a:rPr lang="en-US" sz="2400" dirty="0"/>
              <a:t>Local </a:t>
            </a:r>
            <a:r>
              <a:rPr lang="en-US" sz="2400" dirty="0" smtClean="0"/>
              <a:t>Buffering</a:t>
            </a:r>
            <a:r>
              <a:rPr lang="he-IL" sz="2400" dirty="0" smtClean="0"/>
              <a:t>)</a:t>
            </a:r>
            <a:r>
              <a:rPr lang="en-US" sz="2400" dirty="0" smtClean="0"/>
              <a:t> </a:t>
            </a:r>
            <a:r>
              <a:rPr lang="he-IL" sz="2400" dirty="0" smtClean="0"/>
              <a:t>ב-</a:t>
            </a:r>
            <a:r>
              <a:rPr lang="en-US" sz="2400" dirty="0" smtClean="0"/>
              <a:t> Gateway </a:t>
            </a:r>
            <a:r>
              <a:rPr lang="he-IL" sz="2400" dirty="0"/>
              <a:t>וסנכרון אוטומטי לענן </a:t>
            </a:r>
            <a:r>
              <a:rPr lang="he-IL" sz="2400" dirty="0" smtClean="0"/>
              <a:t>כשהרשת </a:t>
            </a:r>
            <a:r>
              <a:rPr lang="he-IL" sz="2400" dirty="0"/>
              <a:t>חוזרת.</a:t>
            </a:r>
            <a:endParaRPr lang="he-IL" sz="2400" dirty="0" smtClean="0"/>
          </a:p>
          <a:p>
            <a:r>
              <a:rPr lang="he-IL" sz="2400" b="1" dirty="0"/>
              <a:t>אבטחת </a:t>
            </a:r>
            <a:r>
              <a:rPr lang="he-IL" sz="2400" b="1" dirty="0" smtClean="0"/>
              <a:t>מידע: </a:t>
            </a:r>
            <a:r>
              <a:rPr lang="he-IL" sz="2400" dirty="0" smtClean="0"/>
              <a:t>חיבור </a:t>
            </a:r>
            <a:r>
              <a:rPr lang="he-IL" sz="2400" dirty="0"/>
              <a:t>קצה לענן בצורה מאובטחת </a:t>
            </a:r>
            <a:r>
              <a:rPr lang="he-IL" sz="2400" dirty="0" smtClean="0"/>
              <a:t>-&gt; נפתר </a:t>
            </a:r>
            <a:r>
              <a:rPr lang="he-IL" sz="2400" dirty="0"/>
              <a:t>ע"י הצפנת </a:t>
            </a:r>
            <a:r>
              <a:rPr lang="en-US" sz="2400" dirty="0"/>
              <a:t> </a:t>
            </a:r>
            <a:r>
              <a:rPr lang="en-US" sz="2400" dirty="0" smtClean="0"/>
              <a:t>TLS </a:t>
            </a:r>
            <a:r>
              <a:rPr lang="en-US" sz="2400" dirty="0"/>
              <a:t>1.2 </a:t>
            </a:r>
            <a:r>
              <a:rPr lang="he-IL" sz="2400" dirty="0"/>
              <a:t>ואימות תעודות </a:t>
            </a:r>
            <a:r>
              <a:rPr lang="en-US" sz="2400" dirty="0"/>
              <a:t>X.509 </a:t>
            </a:r>
            <a:r>
              <a:rPr lang="he-IL" sz="2400" dirty="0" smtClean="0"/>
              <a:t> ב-</a:t>
            </a:r>
            <a:r>
              <a:rPr lang="en-US" sz="2400" dirty="0" smtClean="0"/>
              <a:t>AWS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323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4310" y="-305439"/>
            <a:ext cx="5298538" cy="16162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rtl="0"/>
            <a:r>
              <a:rPr lang="en-US" sz="3600" dirty="0" err="1"/>
              <a:t>ארכיטקטורת</a:t>
            </a:r>
            <a:r>
              <a:rPr lang="en-US" sz="3600" dirty="0"/>
              <a:t> </a:t>
            </a:r>
            <a:r>
              <a:rPr lang="en-US" sz="3600" dirty="0" err="1"/>
              <a:t>המערכת</a:t>
            </a:r>
            <a:endParaRPr lang="en-US" sz="3600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D2781B8-7568-0537-C5F6-362CE414279E}"/>
              </a:ext>
            </a:extLst>
          </p:cNvPr>
          <p:cNvSpPr txBox="1"/>
          <p:nvPr/>
        </p:nvSpPr>
        <p:spPr>
          <a:xfrm>
            <a:off x="1553943" y="772862"/>
            <a:ext cx="8939049" cy="2415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1"/>
            <a:r>
              <a:rPr lang="he-IL" dirty="0"/>
              <a:t>ארכיטקטורה היברידית שמפרידה בין מסלול מידע לבין מסלול שליטה.</a:t>
            </a:r>
            <a:endParaRPr lang="en-US" dirty="0"/>
          </a:p>
          <a:p>
            <a:pPr algn="r" rtl="1"/>
            <a:r>
              <a:rPr lang="he-IL" dirty="0"/>
              <a:t> </a:t>
            </a:r>
            <a:endParaRPr lang="en-US" dirty="0"/>
          </a:p>
          <a:p>
            <a:pPr algn="r" rtl="1"/>
            <a:r>
              <a:rPr lang="he-IL" dirty="0"/>
              <a:t>הרובוט מפענח ברקוד ושולח נתונים ל-</a:t>
            </a:r>
            <a:r>
              <a:rPr lang="en-US" dirty="0"/>
              <a:t>Gateway </a:t>
            </a:r>
            <a:r>
              <a:rPr lang="he-IL" dirty="0"/>
              <a:t> מקומי, שמגשר בצורה מאובטחת ל-</a:t>
            </a:r>
            <a:r>
              <a:rPr lang="en-US" dirty="0"/>
              <a:t>AWS</a:t>
            </a:r>
            <a:r>
              <a:rPr lang="he-IL" dirty="0"/>
              <a:t>.</a:t>
            </a:r>
            <a:endParaRPr lang="en-US" dirty="0"/>
          </a:p>
          <a:p>
            <a:pPr algn="r" rtl="1"/>
            <a:r>
              <a:rPr lang="he-IL" dirty="0"/>
              <a:t> </a:t>
            </a:r>
            <a:endParaRPr lang="en-US" dirty="0"/>
          </a:p>
          <a:p>
            <a:pPr algn="r" rtl="1"/>
            <a:r>
              <a:rPr lang="he-IL" dirty="0"/>
              <a:t>בענן הנתונים נשמרים ב-</a:t>
            </a:r>
            <a:r>
              <a:rPr lang="en-US" dirty="0"/>
              <a:t>DynamoDB</a:t>
            </a:r>
            <a:r>
              <a:rPr lang="he-IL" dirty="0"/>
              <a:t>, מוצגים בלייב ב-</a:t>
            </a:r>
            <a:r>
              <a:rPr lang="en-US" dirty="0"/>
              <a:t>Grafana</a:t>
            </a:r>
            <a:r>
              <a:rPr lang="he-IL" dirty="0"/>
              <a:t>, וניתן להפעיל התראות דרך </a:t>
            </a:r>
            <a:r>
              <a:rPr lang="en-US" dirty="0"/>
              <a:t>SNS</a:t>
            </a:r>
            <a:r>
              <a:rPr lang="he-IL" dirty="0"/>
              <a:t>.</a:t>
            </a:r>
            <a:endParaRPr lang="en-US" dirty="0"/>
          </a:p>
          <a:p>
            <a:pPr algn="r" rtl="1"/>
            <a:r>
              <a:rPr lang="he-IL" dirty="0"/>
              <a:t> </a:t>
            </a:r>
            <a:endParaRPr lang="en-US" dirty="0"/>
          </a:p>
          <a:p>
            <a:pPr algn="r" rtl="1"/>
            <a:r>
              <a:rPr lang="he-IL" dirty="0"/>
              <a:t>במקביל, פקודות תנועה נשלחות לרובוט דרך </a:t>
            </a:r>
            <a:r>
              <a:rPr lang="en-US" dirty="0"/>
              <a:t>Micro-ROS </a:t>
            </a:r>
            <a:r>
              <a:rPr lang="he-IL" dirty="0"/>
              <a:t> בפרוטוקול </a:t>
            </a:r>
            <a:r>
              <a:rPr lang="en-US" dirty="0"/>
              <a:t> UDP </a:t>
            </a:r>
            <a:r>
              <a:rPr lang="he-IL" dirty="0"/>
              <a:t>מהיר, כך שהתנועה נשארת יציבה גם ללא תלות באינטרנט או בעומס ענן.</a:t>
            </a:r>
            <a:endParaRPr lang="en-US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2C260E8-3B96-FE1E-7DD7-2DD82F6177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263" y="3342836"/>
            <a:ext cx="11833473" cy="287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4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187" y="-682216"/>
            <a:ext cx="3185866" cy="1979597"/>
          </a:xfrm>
        </p:spPr>
        <p:txBody>
          <a:bodyPr anchor="ctr">
            <a:normAutofit/>
          </a:bodyPr>
          <a:lstStyle/>
          <a:p>
            <a:pPr algn="r"/>
            <a:r>
              <a:rPr lang="he-IL" dirty="0"/>
              <a:t>החלק </a:t>
            </a:r>
            <a:r>
              <a:rPr lang="he-IL" dirty="0" smtClean="0"/>
              <a:t>המכני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DBA5AD-10C8-4C9E-A2E4-37834152A0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410" y="773380"/>
            <a:ext cx="3200400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תמונה 5" descr="תמונה שמכילה גלגל, צמיג, חלק חילוף לרכב, תחבו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BCCBCBC-84CE-581F-1590-E0C2228D98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54" y="1230486"/>
            <a:ext cx="2719685" cy="182898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EF67420-C2EF-496D-8511-54DA2D6E3B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837" y="773380"/>
            <a:ext cx="3200400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תמונה 7" descr="תמונה שמכילה גלגל, צמיג, חלק חילוף לרכ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39F894-15CF-872E-51C8-11FBC864D7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143" y="1018742"/>
            <a:ext cx="2657789" cy="22524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926F8AF-45D6-46BD-B4AF-64E8AA6877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7264" y="759482"/>
            <a:ext cx="3200400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תמונה 9" descr="תמונה שמכילה גלגל, צמיג, חלק חילוף לרכב, שולח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582D176-A540-D155-30BC-0C0D4A62EA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657" y="1135364"/>
            <a:ext cx="2703613" cy="21358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548" y="4150102"/>
            <a:ext cx="11303750" cy="2211961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he-IL" sz="2400" dirty="0">
                <a:effectLst/>
              </a:rPr>
              <a:t>הרובוט מבוסס על הינע דיפרנציאלי עם שני מנועי </a:t>
            </a:r>
            <a:r>
              <a:rPr lang="en-US" sz="2400" dirty="0">
                <a:effectLst/>
              </a:rPr>
              <a:t>DC</a:t>
            </a:r>
            <a:r>
              <a:rPr lang="he-IL" sz="2400" dirty="0">
                <a:effectLst/>
              </a:rPr>
              <a:t>, המאפשרים שליטה נפרדת בכל גלגל לתמרון וסיבוב במקום.</a:t>
            </a:r>
          </a:p>
          <a:p>
            <a:pPr>
              <a:lnSpc>
                <a:spcPct val="90000"/>
              </a:lnSpc>
            </a:pPr>
            <a:r>
              <a:rPr lang="he-IL" sz="2400" dirty="0">
                <a:effectLst/>
              </a:rPr>
              <a:t> לייצוב השתמשנו בגלגל אחורי חופשי (</a:t>
            </a:r>
            <a:r>
              <a:rPr lang="en-US" sz="2400" dirty="0">
                <a:effectLst/>
              </a:rPr>
              <a:t>Caster</a:t>
            </a:r>
            <a:r>
              <a:rPr lang="he-IL" sz="2400" dirty="0">
                <a:effectLst/>
              </a:rPr>
              <a:t>), המבטיח תנועה חלקה לכל כיוון ללא צורך במנגנון היגוי מורכב.</a:t>
            </a:r>
          </a:p>
          <a:p>
            <a:pPr>
              <a:lnSpc>
                <a:spcPct val="90000"/>
              </a:lnSpc>
            </a:pPr>
            <a:r>
              <a:rPr lang="he-IL" sz="2400" dirty="0">
                <a:effectLst/>
              </a:rPr>
              <a:t> המצלמה הותקנה בחלק העליון בזווית מוגבהת, כדי לאפשר סריקה אופטימלית של הברקודים תוך כדי תנועה.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581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5" name="מציין מיקום תוכן 4" descr="תמונה שמכילה טקסט, תרשים, תוכנית, סכמט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A487A6F-7CFF-95C9-2D29-94B7D7B72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4" t="2509" r="8980" b="26745"/>
          <a:stretch>
            <a:fillRect/>
          </a:stretch>
        </p:blipFill>
        <p:spPr>
          <a:xfrm>
            <a:off x="-612934" y="609600"/>
            <a:ext cx="8150639" cy="5728585"/>
          </a:xfrm>
          <a:prstGeom prst="rect">
            <a:avLst/>
          </a:prstGeom>
        </p:spPr>
      </p:pic>
      <p:sp>
        <p:nvSpPr>
          <p:cNvPr id="14" name="כותרת 1">
            <a:extLst>
              <a:ext uri="{FF2B5EF4-FFF2-40B4-BE49-F238E27FC236}">
                <a16:creationId xmlns:a16="http://schemas.microsoft.com/office/drawing/2014/main" id="{8F1753BA-78C6-8B8E-4E96-45C269DB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478" y="609600"/>
            <a:ext cx="3078749" cy="9704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dirty="0" err="1"/>
              <a:t>החלק</a:t>
            </a:r>
            <a:r>
              <a:rPr lang="en-US" sz="2800" dirty="0"/>
              <a:t> </a:t>
            </a:r>
            <a:r>
              <a:rPr lang="en-US" dirty="0" err="1"/>
              <a:t>החומרתי</a:t>
            </a:r>
            <a:endParaRPr lang="en-US" dirty="0"/>
          </a:p>
        </p:txBody>
      </p:sp>
      <p:sp>
        <p:nvSpPr>
          <p:cNvPr id="15" name="כותרת 1">
            <a:extLst>
              <a:ext uri="{FF2B5EF4-FFF2-40B4-BE49-F238E27FC236}">
                <a16:creationId xmlns:a16="http://schemas.microsoft.com/office/drawing/2014/main" id="{4E008D2F-5281-F7C0-8CBD-7598350424F5}"/>
              </a:ext>
            </a:extLst>
          </p:cNvPr>
          <p:cNvSpPr txBox="1">
            <a:spLocks/>
          </p:cNvSpPr>
          <p:nvPr/>
        </p:nvSpPr>
        <p:spPr>
          <a:xfrm>
            <a:off x="7537705" y="1698171"/>
            <a:ext cx="4489455" cy="51598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 sz="2600" b="1" dirty="0">
                <a:latin typeface="+mn-lt"/>
                <a:ea typeface="+mn-ea"/>
                <a:cs typeface="+mn-cs"/>
              </a:rPr>
              <a:t>ESP32</a:t>
            </a:r>
            <a:r>
              <a:rPr lang="he-IL" sz="2600" b="1" dirty="0">
                <a:latin typeface="+mn-lt"/>
                <a:ea typeface="+mn-ea"/>
                <a:cs typeface="+mn-cs"/>
              </a:rPr>
              <a:t> </a:t>
            </a:r>
            <a:r>
              <a:rPr lang="he-IL" sz="2600" dirty="0">
                <a:effectLst/>
                <a:latin typeface="+mn-lt"/>
                <a:ea typeface="+mn-ea"/>
                <a:cs typeface="+mn-cs"/>
              </a:rPr>
              <a:t>מ</a:t>
            </a:r>
            <a:r>
              <a:rPr lang="en-US" sz="2600" dirty="0" err="1">
                <a:latin typeface="+mn-lt"/>
                <a:ea typeface="+mn-ea"/>
                <a:cs typeface="+mn-cs"/>
              </a:rPr>
              <a:t>וקדש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לניהול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התנועה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והניווט</a:t>
            </a:r>
            <a:r>
              <a:rPr lang="en-US" sz="2600" dirty="0">
                <a:latin typeface="+mn-lt"/>
                <a:ea typeface="+mn-ea"/>
                <a:cs typeface="+mn-cs"/>
              </a:rPr>
              <a:t>.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הוא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מריץ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את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הMicro</a:t>
            </a:r>
            <a:r>
              <a:rPr lang="en-US" sz="2600" dirty="0">
                <a:latin typeface="+mn-lt"/>
                <a:ea typeface="+mn-ea"/>
                <a:cs typeface="+mn-cs"/>
              </a:rPr>
              <a:t>-ROS</a:t>
            </a:r>
            <a:r>
              <a:rPr lang="he-IL" sz="2600" dirty="0">
                <a:latin typeface="+mn-lt"/>
                <a:ea typeface="+mn-ea"/>
                <a:cs typeface="+mn-cs"/>
              </a:rPr>
              <a:t> מ</a:t>
            </a:r>
            <a:r>
              <a:rPr lang="en-US" sz="2600" dirty="0" err="1">
                <a:latin typeface="+mn-lt"/>
                <a:ea typeface="+mn-ea"/>
                <a:cs typeface="+mn-cs"/>
              </a:rPr>
              <a:t>תקשר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עם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המחשב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בזמן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אמת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ושולט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בדרייבר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המנועים</a:t>
            </a:r>
            <a:r>
              <a:rPr lang="en-US" sz="2600" dirty="0">
                <a:latin typeface="+mn-lt"/>
                <a:ea typeface="+mn-ea"/>
                <a:cs typeface="+mn-cs"/>
              </a:rPr>
              <a:t>(L298N)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לביצוע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תמרונים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מדויקים</a:t>
            </a:r>
            <a:r>
              <a:rPr lang="en-US" sz="2600" dirty="0">
                <a:latin typeface="+mn-lt"/>
                <a:ea typeface="+mn-ea"/>
                <a:cs typeface="+mn-cs"/>
              </a:rPr>
              <a:t>.</a:t>
            </a:r>
          </a:p>
          <a:p>
            <a:pPr algn="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 sz="2600" b="1" dirty="0">
                <a:latin typeface="+mn-lt"/>
                <a:ea typeface="+mn-ea"/>
                <a:cs typeface="+mn-cs"/>
              </a:rPr>
              <a:t>:ESP32-CAM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מתפקד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he-IL" sz="2600" dirty="0">
                <a:latin typeface="+mn-lt"/>
                <a:ea typeface="+mn-ea"/>
                <a:cs typeface="+mn-cs"/>
              </a:rPr>
              <a:t>כ</a:t>
            </a:r>
            <a:r>
              <a:rPr lang="en-US" sz="2600" dirty="0" err="1">
                <a:latin typeface="+mn-lt"/>
                <a:ea typeface="+mn-ea"/>
                <a:cs typeface="+mn-cs"/>
              </a:rPr>
              <a:t>עצמאי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לחלוטין</a:t>
            </a:r>
            <a:r>
              <a:rPr lang="en-US" sz="2600" dirty="0">
                <a:latin typeface="+mn-lt"/>
                <a:ea typeface="+mn-ea"/>
                <a:cs typeface="+mn-cs"/>
              </a:rPr>
              <a:t>.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תפקידו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היחיד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הוא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לצלם</a:t>
            </a:r>
            <a:r>
              <a:rPr lang="en-US" sz="2600" dirty="0">
                <a:latin typeface="+mn-lt"/>
                <a:ea typeface="+mn-ea"/>
                <a:cs typeface="+mn-cs"/>
              </a:rPr>
              <a:t>,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לפענח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את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קודי</a:t>
            </a:r>
            <a:r>
              <a:rPr lang="en-US" sz="2600" dirty="0">
                <a:latin typeface="+mn-lt"/>
                <a:ea typeface="+mn-ea"/>
                <a:cs typeface="+mn-cs"/>
              </a:rPr>
              <a:t> ה-QR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ולשדר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את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הנתונים</a:t>
            </a:r>
            <a:r>
              <a:rPr lang="en-US" sz="2600" dirty="0">
                <a:latin typeface="+mn-lt"/>
                <a:ea typeface="+mn-ea"/>
                <a:cs typeface="+mn-cs"/>
              </a:rPr>
              <a:t> ב-MQTT,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מבלי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להעמיס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על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משאבי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המעבד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של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בקר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התנועה</a:t>
            </a:r>
            <a:r>
              <a:rPr lang="en-US" sz="2600" dirty="0">
                <a:latin typeface="+mn-lt"/>
                <a:ea typeface="+mn-ea"/>
                <a:cs typeface="+mn-cs"/>
              </a:rPr>
              <a:t>.</a:t>
            </a:r>
          </a:p>
          <a:p>
            <a:pPr algn="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 sz="2600" dirty="0" err="1">
                <a:latin typeface="+mn-lt"/>
                <a:ea typeface="+mn-ea"/>
                <a:cs typeface="+mn-cs"/>
              </a:rPr>
              <a:t>סוללות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הליתיום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מספקות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מתח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לשני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הבקרים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ולמנועים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במקביל</a:t>
            </a:r>
            <a:r>
              <a:rPr lang="en-US" sz="2600" dirty="0">
                <a:latin typeface="+mn-lt"/>
                <a:ea typeface="+mn-ea"/>
                <a:cs typeface="+mn-cs"/>
              </a:rPr>
              <a:t>,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כאשר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כל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רכיב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מקבל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את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הזרם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הדרוש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לו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לפעולה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latin typeface="+mn-lt"/>
                <a:ea typeface="+mn-ea"/>
                <a:cs typeface="+mn-cs"/>
              </a:rPr>
              <a:t>יציבה</a:t>
            </a:r>
            <a:r>
              <a:rPr lang="en-US" sz="2600" dirty="0">
                <a:latin typeface="+mn-lt"/>
                <a:ea typeface="+mn-ea"/>
                <a:cs typeface="+mn-cs"/>
              </a:rPr>
              <a:t>.</a:t>
            </a:r>
          </a:p>
          <a:p>
            <a:pPr algn="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 sz="1800" dirty="0">
                <a:latin typeface="+mn-lt"/>
                <a:ea typeface="+mn-ea"/>
                <a:cs typeface="+mn-cs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40507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5910517" cy="670560"/>
          </a:xfrm>
        </p:spPr>
        <p:txBody>
          <a:bodyPr>
            <a:normAutofit fontScale="90000"/>
          </a:bodyPr>
          <a:lstStyle/>
          <a:p>
            <a:pPr rtl="1"/>
            <a:r>
              <a:rPr lang="he-IL" dirty="0"/>
              <a:t>פרוטוקולי התקשורת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849" y="1516828"/>
            <a:ext cx="6612408" cy="459710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Micro-ROS (over UDP)</a:t>
            </a:r>
            <a:r>
              <a:rPr lang="he-IL" sz="2400" dirty="0">
                <a:effectLst/>
              </a:rPr>
              <a:t>: נבחר עבור מערכת השליטה והניווט. השימוש ב-</a:t>
            </a:r>
            <a:r>
              <a:rPr lang="en-US" sz="2400" dirty="0">
                <a:effectLst/>
              </a:rPr>
              <a:t>UDP</a:t>
            </a:r>
            <a:r>
              <a:rPr lang="he-IL" sz="2400" dirty="0">
                <a:effectLst/>
              </a:rPr>
              <a:t> (ולא ב-</a:t>
            </a:r>
            <a:r>
              <a:rPr lang="en-US" sz="2400" dirty="0">
                <a:effectLst/>
              </a:rPr>
              <a:t>TCP</a:t>
            </a:r>
            <a:r>
              <a:rPr lang="he-IL" sz="2400" dirty="0">
                <a:effectLst/>
              </a:rPr>
              <a:t>) מבטיח תקשורת מהירה במיוחד , החיונית כדי שהרובוט יגיב מיידית לפקודות נסיעה ולתיקוני היגוי בזמן אמת.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MQTT</a:t>
            </a:r>
            <a:r>
              <a:rPr lang="he-IL" sz="2400" dirty="0">
                <a:effectLst/>
              </a:rPr>
              <a:t>: נבחר להעברת המידע בשל היעילות שלו במערכות </a:t>
            </a:r>
            <a:r>
              <a:rPr lang="en-US" sz="2400" dirty="0">
                <a:effectLst/>
              </a:rPr>
              <a:t>IoT</a:t>
            </a:r>
            <a:r>
              <a:rPr lang="he-IL" sz="2400" dirty="0">
                <a:effectLst/>
              </a:rPr>
              <a:t>.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Docker</a:t>
            </a:r>
            <a:r>
              <a:rPr lang="he-IL" sz="2400" dirty="0">
                <a:effectLst/>
              </a:rPr>
              <a:t>: שימש להרצת ה-</a:t>
            </a:r>
            <a:r>
              <a:rPr lang="en-US" sz="2400" dirty="0">
                <a:effectLst/>
              </a:rPr>
              <a:t>Micro-ROS Agent</a:t>
            </a:r>
            <a:r>
              <a:rPr lang="he-IL" sz="2400" dirty="0">
                <a:effectLst/>
              </a:rPr>
              <a:t>. השימוש בקונטיינר (</a:t>
            </a:r>
            <a:r>
              <a:rPr lang="en-US" sz="2400" dirty="0">
                <a:effectLst/>
              </a:rPr>
              <a:t>Container</a:t>
            </a:r>
            <a:r>
              <a:rPr lang="he-IL" sz="2400" dirty="0">
                <a:effectLst/>
              </a:rPr>
              <a:t>) אפשר יצירת סביבת עבודה מבודדת, שפתרה בעיות תאימות (</a:t>
            </a:r>
            <a:r>
              <a:rPr lang="en-US" sz="2400" dirty="0">
                <a:effectLst/>
              </a:rPr>
              <a:t>Dependencies</a:t>
            </a:r>
            <a:r>
              <a:rPr lang="he-IL" sz="2400" dirty="0">
                <a:effectLst/>
              </a:rPr>
              <a:t>) ואפשרה תקשורת חלקה בין המחשב לרובוט ללא התקנות מסובכות על מערכת ההפעלה.</a:t>
            </a:r>
            <a:endParaRPr lang="en-US" sz="2400" dirty="0">
              <a:effectLst/>
            </a:endParaRPr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FA5B6B2C-C44F-441A-B6EE-80D965ACA4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EAD4726-4343-49C7-94B5-CEA4A3C01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8736" y="0"/>
            <a:ext cx="45132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What Is Docker and Does It Have Benefits for Desktop Developers? | by Erik  Engheim | Medium">
            <a:extLst>
              <a:ext uri="{FF2B5EF4-FFF2-40B4-BE49-F238E27FC236}">
                <a16:creationId xmlns:a16="http://schemas.microsoft.com/office/drawing/2014/main" id="{60DDD179-4AEA-178C-A3CA-367A1F634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76303" y="321734"/>
            <a:ext cx="2510244" cy="196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461" y="2446868"/>
            <a:ext cx="3604157" cy="1964266"/>
          </a:xfrm>
          <a:prstGeom prst="rect">
            <a:avLst/>
          </a:prstGeom>
        </p:spPr>
      </p:pic>
      <p:pic>
        <p:nvPicPr>
          <p:cNvPr id="2050" name="Picture 2" descr="micro-ROS | ROS 2 for microcontrollers">
            <a:extLst>
              <a:ext uri="{FF2B5EF4-FFF2-40B4-BE49-F238E27FC236}">
                <a16:creationId xmlns:a16="http://schemas.microsoft.com/office/drawing/2014/main" id="{B9A3394B-F17D-5FD9-FC7F-A0769D3D4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92585" y="4901106"/>
            <a:ext cx="3869794" cy="130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96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שירותי ענן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189649"/>
            <a:ext cx="10353762" cy="4058751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effectLst/>
              </a:rPr>
              <a:t>AWS IoT Core</a:t>
            </a:r>
            <a:r>
              <a:rPr lang="he-IL" b="1" dirty="0">
                <a:effectLst/>
              </a:rPr>
              <a:t>:</a:t>
            </a:r>
            <a:r>
              <a:rPr lang="he-IL" dirty="0">
                <a:effectLst/>
              </a:rPr>
              <a:t> שער הכניסה לענן. משמש כ-</a:t>
            </a:r>
            <a:r>
              <a:rPr lang="en-US" dirty="0">
                <a:effectLst/>
              </a:rPr>
              <a:t>MQTT Broker</a:t>
            </a:r>
            <a:r>
              <a:rPr lang="he-IL" dirty="0">
                <a:effectLst/>
              </a:rPr>
              <a:t> המנהל את התקשורת מול הרובוט, ומאמת את זהות המכשירים.</a:t>
            </a:r>
            <a:endParaRPr lang="en-US" dirty="0">
              <a:effectLst/>
            </a:endParaRPr>
          </a:p>
          <a:p>
            <a:pPr lvl="0"/>
            <a:r>
              <a:rPr lang="en-US" b="1" dirty="0">
                <a:effectLst/>
              </a:rPr>
              <a:t>AWS Lambda</a:t>
            </a:r>
            <a:r>
              <a:rPr lang="he-IL" b="1" dirty="0">
                <a:effectLst/>
              </a:rPr>
              <a:t>:</a:t>
            </a:r>
            <a:r>
              <a:rPr lang="he-IL" dirty="0">
                <a:effectLst/>
              </a:rPr>
              <a:t> יחידת העיבוד (</a:t>
            </a:r>
            <a:r>
              <a:rPr lang="en-US" dirty="0">
                <a:effectLst/>
              </a:rPr>
              <a:t>Serverless</a:t>
            </a:r>
            <a:r>
              <a:rPr lang="he-IL" dirty="0">
                <a:effectLst/>
              </a:rPr>
              <a:t>). פונקציית קוד ש"מתעוררת" אוטומטית ברגע שמתקבלת הודעה, מעבדת את המידע ושולחת אותו לאחסון.</a:t>
            </a:r>
            <a:endParaRPr lang="en-US" dirty="0">
              <a:effectLst/>
            </a:endParaRPr>
          </a:p>
          <a:p>
            <a:pPr lvl="0"/>
            <a:r>
              <a:rPr lang="en-US" b="1" dirty="0">
                <a:effectLst/>
              </a:rPr>
              <a:t>Amazon DynamoDB</a:t>
            </a:r>
            <a:r>
              <a:rPr lang="he-IL" b="1" dirty="0">
                <a:effectLst/>
              </a:rPr>
              <a:t>:</a:t>
            </a:r>
            <a:r>
              <a:rPr lang="he-IL" dirty="0">
                <a:effectLst/>
              </a:rPr>
              <a:t> מסד נתונים מהיר וגמיש . נבחר כדי לשמור את נתוני המלאי בזמן אמת, ומאפשר שליפה מהירה של הנתונים לתצוגה בגרפים.</a:t>
            </a:r>
            <a:endParaRPr lang="en-US" dirty="0">
              <a:effectLst/>
            </a:endParaRPr>
          </a:p>
          <a:p>
            <a:pPr lvl="0"/>
            <a:r>
              <a:rPr lang="en-US" b="1" dirty="0">
                <a:effectLst/>
              </a:rPr>
              <a:t>Amazon SNS</a:t>
            </a:r>
            <a:r>
              <a:rPr lang="he-IL" b="1" dirty="0">
                <a:effectLst/>
              </a:rPr>
              <a:t>:</a:t>
            </a:r>
            <a:r>
              <a:rPr lang="he-IL" dirty="0">
                <a:effectLst/>
              </a:rPr>
              <a:t> שירות ההתראות. מאפשר למערכת לשלוח עדכונים מידיים למשתמש (כמו שליחת אימייל) ברגע שמתבצעת סריקה חדשה או חריגה במלאי.</a:t>
            </a:r>
            <a:endParaRPr lang="en-US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34" y="365125"/>
            <a:ext cx="2762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50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troduction to Information Security Management Systems (ISMS) – BMC  Software | Blogs">
            <a:extLst>
              <a:ext uri="{FF2B5EF4-FFF2-40B4-BE49-F238E27FC236}">
                <a16:creationId xmlns:a16="http://schemas.microsoft.com/office/drawing/2014/main" id="{8093D55F-33E0-D975-7CF2-5F3F78C65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15" r="23897" b="1"/>
          <a:stretch>
            <a:fillRect/>
          </a:stretch>
        </p:blipFill>
        <p:spPr bwMode="auto">
          <a:xfrm>
            <a:off x="-8622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4102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16BC873B-2A2A-5702-2E29-9AABEFD3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r"/>
            <a:r>
              <a:rPr lang="he-IL" sz="3200" dirty="0"/>
              <a:t>אבטחת מידע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08F943-9688-AF5B-C9E6-8255C5288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b="1" dirty="0">
                <a:effectLst/>
              </a:rPr>
              <a:t>IAM</a:t>
            </a:r>
            <a:r>
              <a:rPr lang="he-IL" b="1" dirty="0">
                <a:effectLst/>
              </a:rPr>
              <a:t>: ניהול הרשאות קפדני בשיטה המבטיחה שלכל רכיב (כמו הלמבדה) יש גישה רק למה שהוא חייב.</a:t>
            </a:r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AWS CloudTrail</a:t>
            </a:r>
            <a:r>
              <a:rPr lang="he-IL" b="1" dirty="0">
                <a:effectLst/>
              </a:rPr>
              <a:t>: מבצע ניטור ורישום של כל פעולה בחשבון לצרכי בקרה וחקירת אירועי אבטחה.</a:t>
            </a:r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AWS IoT Core</a:t>
            </a:r>
            <a:r>
              <a:rPr lang="he-IL" b="1" dirty="0">
                <a:effectLst/>
              </a:rPr>
              <a:t>: מספק את שכבת ההגנה בכניסה לענן באמצעות אימות מכשירים (</a:t>
            </a:r>
            <a:r>
              <a:rPr lang="en-US" b="1" dirty="0">
                <a:effectLst/>
              </a:rPr>
              <a:t>X.509 Certificates</a:t>
            </a:r>
            <a:r>
              <a:rPr lang="he-IL" b="1" dirty="0">
                <a:effectLst/>
              </a:rPr>
              <a:t>) והצפנת תעבורה מלאה (</a:t>
            </a:r>
            <a:r>
              <a:rPr lang="en-US" b="1" dirty="0">
                <a:effectLst/>
              </a:rPr>
              <a:t>TLS 1.2</a:t>
            </a:r>
            <a:r>
              <a:rPr lang="he-IL" b="1" dirty="0">
                <a:effectLst/>
              </a:rPr>
              <a:t>).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endParaRPr lang="he-IL" sz="1800" dirty="0"/>
          </a:p>
        </p:txBody>
      </p:sp>
    </p:spTree>
    <p:extLst>
      <p:ext uri="{BB962C8B-B14F-4D97-AF65-F5344CB8AC3E}">
        <p14:creationId xmlns:p14="http://schemas.microsoft.com/office/powerpoint/2010/main" val="1683265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9463726-4B5B-193D-CB92-058E32AE3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r="-1" b="-1"/>
          <a:stretch>
            <a:fillRect/>
          </a:stretch>
        </p:blipFill>
        <p:spPr bwMode="auto">
          <a:xfrm>
            <a:off x="-8622" y="10"/>
            <a:ext cx="6096000" cy="338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C05E9CD-8B54-7E38-C24A-E7B698B7F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4" r="6162" b="2"/>
          <a:stretch>
            <a:fillRect/>
          </a:stretch>
        </p:blipFill>
        <p:spPr bwMode="auto">
          <a:xfrm>
            <a:off x="-10647" y="342900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3084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9C08EDFD-8A64-F8BD-754D-5E043A44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he-IL" sz="3200"/>
              <a:t>ויזואליזציה וחווית משתמש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09F3A42-B45B-73F3-132C-94E42F929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447" y="1691645"/>
            <a:ext cx="5300129" cy="405875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e-IL" sz="1800" dirty="0">
                <a:effectLst/>
              </a:rPr>
              <a:t>לוח בקרה</a:t>
            </a:r>
            <a:r>
              <a:rPr lang="en-US" sz="1800" dirty="0">
                <a:effectLst/>
              </a:rPr>
              <a:t> (Grafana Dashboard): </a:t>
            </a:r>
            <a:r>
              <a:rPr lang="he-IL" sz="1800" dirty="0">
                <a:effectLst/>
              </a:rPr>
              <a:t>משמש כממשק המרכזי למשתמש</a:t>
            </a:r>
            <a:r>
              <a:rPr lang="en-US" sz="1800" dirty="0">
                <a:effectLst/>
              </a:rPr>
              <a:t> (GUI) </a:t>
            </a:r>
            <a:r>
              <a:rPr lang="he-IL" sz="1800" dirty="0">
                <a:effectLst/>
              </a:rPr>
              <a:t>לקבלת תמונת מצב בזמן אמת. המערכת שואבת נתונים ישירות מ</a:t>
            </a:r>
            <a:r>
              <a:rPr lang="en-US" sz="1800" dirty="0">
                <a:effectLst/>
              </a:rPr>
              <a:t>-DynamoDB </a:t>
            </a:r>
            <a:r>
              <a:rPr lang="he-IL" sz="1800" dirty="0">
                <a:effectLst/>
              </a:rPr>
              <a:t> ומציגה אותם בצורה גרפית ברורה (כמות מלאי, היסטוריית סריקות וזמני הגעה), מה שמאפשר קבלת החלטות מבוססת נתונים</a:t>
            </a:r>
            <a:r>
              <a:rPr lang="en-US" sz="1800" dirty="0">
                <a:effectLst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he-IL" sz="1800" dirty="0">
                <a:effectLst/>
              </a:rPr>
              <a:t>התראות מייל</a:t>
            </a:r>
            <a:r>
              <a:rPr lang="en-US" sz="1800" dirty="0">
                <a:effectLst/>
              </a:rPr>
              <a:t> :</a:t>
            </a:r>
            <a:r>
              <a:rPr lang="he-IL" sz="1800" dirty="0">
                <a:effectLst/>
              </a:rPr>
              <a:t>נועדו לשפר את יעילות המערכת על ידי אוטומציה במקום לבדוק את הלוח ידנית, המערכת שולחת עדכון אוטומטי למייל ברגע שהתבצעה סריקה שבה זוהה חוסר במלאי, ובכך סוגרת מעגל טיפול מהיר</a:t>
            </a:r>
            <a:r>
              <a:rPr lang="en-US" sz="1800" dirty="0">
                <a:effectLst/>
              </a:rPr>
              <a:t>.</a:t>
            </a:r>
          </a:p>
          <a:p>
            <a:pPr>
              <a:lnSpc>
                <a:spcPct val="90000"/>
              </a:lnSpc>
            </a:pPr>
            <a:endParaRPr lang="he-IL" sz="1800" dirty="0"/>
          </a:p>
        </p:txBody>
      </p:sp>
      <p:pic>
        <p:nvPicPr>
          <p:cNvPr id="7" name="תמונה 6" descr="תמונה שמכילה טקסט, צילום מסך, קבלה, אלגב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CA5F33C-FFC0-7BC5-2496-46243105D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16" y="5601200"/>
            <a:ext cx="5934973" cy="89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9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סרטון הדגמה הכולל של המערכת</a:t>
            </a:r>
            <a:endParaRPr lang="en-US" dirty="0"/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2BACF11-AF95-6F0B-616C-9DA992D4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https://www.youtube.com/watch?v=7Y8p60v4oPw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6607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וידאו 8">
            <a:hlinkClick r:id="" action="ppaction://media"/>
            <a:extLst>
              <a:ext uri="{FF2B5EF4-FFF2-40B4-BE49-F238E27FC236}">
                <a16:creationId xmlns:a16="http://schemas.microsoft.com/office/drawing/2014/main" id="{9AD62F04-E3D1-B66E-CE2A-61A666B4C2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04EC81EF-0518-FE91-B292-F7A956B5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74" y="0"/>
            <a:ext cx="3909326" cy="735106"/>
          </a:xfrm>
        </p:spPr>
        <p:txBody>
          <a:bodyPr>
            <a:normAutofit fontScale="90000"/>
          </a:bodyPr>
          <a:lstStyle/>
          <a:p>
            <a:r>
              <a:rPr lang="he-IL" dirty="0" err="1"/>
              <a:t>סקלביליות</a:t>
            </a:r>
            <a:r>
              <a:rPr lang="he-IL" dirty="0"/>
              <a:t> המערכת</a:t>
            </a:r>
          </a:p>
        </p:txBody>
      </p:sp>
    </p:spTree>
    <p:extLst>
      <p:ext uri="{BB962C8B-B14F-4D97-AF65-F5344CB8AC3E}">
        <p14:creationId xmlns:p14="http://schemas.microsoft.com/office/powerpoint/2010/main" val="240859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רעיונות לעתיד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b="1" dirty="0" smtClean="0"/>
              <a:t>בטיחות: </a:t>
            </a:r>
            <a:r>
              <a:rPr lang="he-IL" sz="2800" dirty="0" smtClean="0"/>
              <a:t>שילוב </a:t>
            </a:r>
            <a:r>
              <a:rPr lang="he-IL" sz="2800" dirty="0"/>
              <a:t>מודלים של עיבוד תמונה לזיהוי מפגעים במעברים (כמו נוזל שנשפך או מוצר שנפל) והתראה מיידית למנהל</a:t>
            </a:r>
            <a:r>
              <a:rPr lang="he-IL" sz="2800" dirty="0" smtClean="0"/>
              <a:t>.</a:t>
            </a:r>
          </a:p>
          <a:p>
            <a:r>
              <a:rPr lang="en-US" sz="2800" b="1" dirty="0" smtClean="0"/>
              <a:t>Scalability</a:t>
            </a:r>
            <a:r>
              <a:rPr lang="he-IL" sz="2800" b="1" dirty="0" smtClean="0"/>
              <a:t>: </a:t>
            </a:r>
            <a:r>
              <a:rPr lang="en-US" sz="2800" b="1" dirty="0" smtClean="0"/>
              <a:t> </a:t>
            </a:r>
            <a:r>
              <a:rPr lang="he-IL" sz="2800" dirty="0"/>
              <a:t>ניהול צי רובוטים </a:t>
            </a:r>
            <a:r>
              <a:rPr lang="he-IL" sz="2800" dirty="0" smtClean="0"/>
              <a:t>לכיסוי </a:t>
            </a:r>
            <a:r>
              <a:rPr lang="he-IL" sz="2800" dirty="0"/>
              <a:t>מחסנים גדולים</a:t>
            </a:r>
            <a:r>
              <a:rPr lang="he-IL" sz="2800" dirty="0" smtClean="0"/>
              <a:t>.</a:t>
            </a:r>
          </a:p>
          <a:p>
            <a:r>
              <a:rPr lang="en-US" sz="2800" b="1" dirty="0"/>
              <a:t>AI </a:t>
            </a:r>
            <a:r>
              <a:rPr lang="en-US" sz="2800" b="1" dirty="0" smtClean="0"/>
              <a:t>Prediction</a:t>
            </a:r>
            <a:r>
              <a:rPr lang="he-IL" sz="2800" b="1" dirty="0" smtClean="0"/>
              <a:t>:</a:t>
            </a:r>
            <a:r>
              <a:rPr lang="en-US" sz="2800" b="1" dirty="0" smtClean="0"/>
              <a:t> </a:t>
            </a:r>
            <a:r>
              <a:rPr lang="he-IL" sz="2800" dirty="0"/>
              <a:t>חיזוי חוסרים עתידי על בסיס היסטוריית הצריכה.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8395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8" y="1333255"/>
            <a:ext cx="10802815" cy="4610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8800" dirty="0"/>
              <a:t>תודה רבה על ההקשבה!</a:t>
            </a:r>
            <a:r>
              <a:rPr lang="en-US" sz="8800" dirty="0"/>
              <a:t/>
            </a:r>
            <a:br>
              <a:rPr lang="en-US" sz="8800" dirty="0"/>
            </a:br>
            <a:r>
              <a:rPr lang="en-US" sz="8800" dirty="0"/>
              <a:t/>
            </a:r>
            <a:br>
              <a:rPr lang="en-US" sz="8800" dirty="0"/>
            </a:br>
            <a:r>
              <a:rPr lang="he-IL" sz="8800" dirty="0"/>
              <a:t>שאלות?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938509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רשימת מקורות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[1] Chai, T. Y., et al. (2023).</a:t>
            </a:r>
            <a:r>
              <a:rPr lang="en-US" dirty="0"/>
              <a:t> </a:t>
            </a:r>
            <a:r>
              <a:rPr lang="en-US" i="1" dirty="0"/>
              <a:t>Advancing Retail Operations: A Customizable </a:t>
            </a:r>
            <a:r>
              <a:rPr lang="en-US" i="1" dirty="0" err="1"/>
              <a:t>IoT</a:t>
            </a:r>
            <a:r>
              <a:rPr lang="en-US" i="1" dirty="0"/>
              <a:t>-Based Smart Inventory System.</a:t>
            </a:r>
            <a:r>
              <a:rPr lang="en-US" dirty="0"/>
              <a:t> International Journal of Membrane Science and Technology.</a:t>
            </a:r>
          </a:p>
          <a:p>
            <a:pPr marL="0" indent="0">
              <a:buNone/>
            </a:pPr>
            <a:r>
              <a:rPr lang="en-US" b="1" dirty="0"/>
              <a:t>[2] </a:t>
            </a:r>
            <a:r>
              <a:rPr lang="en-US" b="1" dirty="0" err="1"/>
              <a:t>Selvaraj</a:t>
            </a:r>
            <a:r>
              <a:rPr lang="en-US" b="1" dirty="0"/>
              <a:t>, A. S., &amp; </a:t>
            </a:r>
            <a:r>
              <a:rPr lang="en-US" b="1" dirty="0" err="1"/>
              <a:t>Anusha</a:t>
            </a:r>
            <a:r>
              <a:rPr lang="en-US" b="1" dirty="0"/>
              <a:t>, S. (2021).</a:t>
            </a:r>
            <a:r>
              <a:rPr lang="en-US" dirty="0"/>
              <a:t> </a:t>
            </a:r>
            <a:r>
              <a:rPr lang="en-US" i="1" dirty="0"/>
              <a:t>RFID Enabled Smart Data Analysis in a Smart Warehouse Monitoring System using </a:t>
            </a:r>
            <a:r>
              <a:rPr lang="en-US" i="1" dirty="0" err="1"/>
              <a:t>IoT</a:t>
            </a:r>
            <a:r>
              <a:rPr lang="en-US" i="1" dirty="0"/>
              <a:t>.</a:t>
            </a:r>
            <a:r>
              <a:rPr lang="en-US" dirty="0"/>
              <a:t> Journal of Physics: Conference Series.</a:t>
            </a:r>
          </a:p>
          <a:p>
            <a:pPr marL="0" indent="0">
              <a:buNone/>
            </a:pPr>
            <a:r>
              <a:rPr lang="en-US" b="1" dirty="0"/>
              <a:t>[3] Li, Z. (2024).</a:t>
            </a:r>
            <a:r>
              <a:rPr lang="en-US" dirty="0"/>
              <a:t> </a:t>
            </a:r>
            <a:r>
              <a:rPr lang="en-US" i="1" dirty="0"/>
              <a:t>Review of Application of AI in Amazon Warehouse Management.</a:t>
            </a:r>
            <a:r>
              <a:rPr lang="en-US" dirty="0"/>
              <a:t> Proceedings of ICFTBA Workshop.</a:t>
            </a:r>
          </a:p>
          <a:p>
            <a:pPr marL="0" indent="0">
              <a:buNone/>
            </a:pPr>
            <a:r>
              <a:rPr lang="en-US" b="1" dirty="0"/>
              <a:t>[4] </a:t>
            </a:r>
            <a:r>
              <a:rPr lang="en-US" b="1" dirty="0" err="1"/>
              <a:t>Yerpude</a:t>
            </a:r>
            <a:r>
              <a:rPr lang="en-US" b="1" dirty="0"/>
              <a:t>, S., &amp; </a:t>
            </a:r>
            <a:r>
              <a:rPr lang="en-US" b="1" dirty="0" err="1"/>
              <a:t>Singhal</a:t>
            </a:r>
            <a:r>
              <a:rPr lang="en-US" b="1" dirty="0"/>
              <a:t>, T. K. (2018).</a:t>
            </a:r>
            <a:r>
              <a:rPr lang="en-US" dirty="0"/>
              <a:t> </a:t>
            </a:r>
            <a:r>
              <a:rPr lang="en-US" i="1" dirty="0"/>
              <a:t>SMART Warehouse with Internet of Things supported Inventory Management System.</a:t>
            </a:r>
            <a:r>
              <a:rPr lang="en-US" dirty="0"/>
              <a:t> International Journal of Pure and Applied Mathematics.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20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צפחה">
  <a:themeElements>
    <a:clrScheme name="צפחה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צפחה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צפחה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TM04033929[[fn=צפחה]]</Template>
  <TotalTime>455</TotalTime>
  <Words>921</Words>
  <Application>Microsoft Office PowerPoint</Application>
  <PresentationFormat>Widescreen</PresentationFormat>
  <Paragraphs>74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Trebuchet MS</vt:lpstr>
      <vt:lpstr>Wingdings 2</vt:lpstr>
      <vt:lpstr>צפחה</vt:lpstr>
      <vt:lpstr>Smart Warehouse IoT System using Autonomous Mobile Robot (AMR)</vt:lpstr>
      <vt:lpstr>סקירת רקע ופתרונות קיימים</vt:lpstr>
      <vt:lpstr>הפתרון שלנו</vt:lpstr>
      <vt:lpstr>אתגרים ופתרונות</vt:lpstr>
      <vt:lpstr>ארכיטקטורת המערכת</vt:lpstr>
      <vt:lpstr>החלק המכני</vt:lpstr>
      <vt:lpstr>החלק החומרתי</vt:lpstr>
      <vt:lpstr>פרוטוקולי התקשורת</vt:lpstr>
      <vt:lpstr>שירותי ענן</vt:lpstr>
      <vt:lpstr>אבטחת מידע</vt:lpstr>
      <vt:lpstr>ויזואליזציה וחווית משתמש</vt:lpstr>
      <vt:lpstr>סרטון הדגמה הכולל של המערכת</vt:lpstr>
      <vt:lpstr>סקלביליות המערכת</vt:lpstr>
      <vt:lpstr>רעיונות לעתיד</vt:lpstr>
      <vt:lpstr>PowerPoint Presentation</vt:lpstr>
      <vt:lpstr>רשימת מקורות</vt:lpstr>
    </vt:vector>
  </TitlesOfParts>
  <Company>ADAMA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Warehouse IoT System using Autonomous Mobile Robot (AMR)</dc:title>
  <dc:creator>adi</dc:creator>
  <cp:lastModifiedBy>adi</cp:lastModifiedBy>
  <cp:revision>30</cp:revision>
  <dcterms:created xsi:type="dcterms:W3CDTF">2025-12-29T07:39:43Z</dcterms:created>
  <dcterms:modified xsi:type="dcterms:W3CDTF">2026-01-11T18:51:16Z</dcterms:modified>
</cp:coreProperties>
</file>